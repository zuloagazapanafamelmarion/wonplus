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EBE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" y="502920"/>
            <a:ext cx="502920" cy="502920"/>
          </a:xfrm>
          <a:prstGeom prst="ellipse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1760" y="5394960"/>
            <a:ext cx="640080" cy="640080"/>
          </a:xfrm>
          <a:prstGeom prst="ellipse">
            <a:avLst/>
          </a:prstGeom>
          <a:solidFill>
            <a:srgbClr val="D9C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926080" y="868680"/>
            <a:ext cx="256032" cy="256032"/>
          </a:xfrm>
          <a:prstGeom prst="ellipse">
            <a:avLst/>
          </a:prstGeom>
          <a:solidFill>
            <a:srgbClr val="785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48840"/>
            <a:ext cx="2880360" cy="7315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3400" b="1">
                <a:solidFill>
                  <a:srgbClr val="4B2B75"/>
                </a:solidFill>
                <a:latin typeface="Aptos"/>
              </a:defRPr>
            </a:pPr>
            <a:r>
              <a:t>WonPLUS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1645920"/>
            <a:ext cx="7132320" cy="13716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SISTEMA DE GESTIÓN</a:t>
            </a:r>
          </a:p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DE VENTAS E INVENTARIOS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70832" y="3154680"/>
            <a:ext cx="65836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900" b="1">
                <a:solidFill>
                  <a:srgbClr val="7854B4"/>
                </a:solidFill>
                <a:latin typeface="Aptos"/>
              </a:defRPr>
            </a:pPr>
            <a:r>
              <a:t>Avance 3 del proyecto final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0832" y="3703320"/>
            <a:ext cx="68580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Curso Integrador I: Sistemas Software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0832" y="5074920"/>
            <a:ext cx="68580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Famel Marion Zuloaga Zapana  •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5596128"/>
            <a:ext cx="685800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7854B4"/>
                </a:solidFill>
                <a:latin typeface="Aptos"/>
              </a:defRPr>
            </a:pPr>
            <a:r>
              <a:t>Una solución sencilla para las MYPES del Perú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¿Qué es WonPLUS?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Una herramienta para ordenar las operaciones esenciales de un pequeño negocio.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4592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45920"/>
            <a:ext cx="82296" cy="324612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9222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Propósito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12848"/>
            <a:ext cx="3090672" cy="2587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Facilitar el registro de ventas y el control de inventario en un solo sistema.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4592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45920"/>
            <a:ext cx="82296" cy="324612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Usuarios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12848"/>
            <a:ext cx="3090672" cy="2587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MYPES y emprendedores. Incluye los roles Administrador y Vendedor.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474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645920"/>
            <a:ext cx="82296" cy="324612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79222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Tecnología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212848"/>
            <a:ext cx="3090672" cy="2587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Aplicación de escritorio en Java, arquitectura MVC y base de datos PostgreSQL.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349240"/>
            <a:ext cx="102412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900" b="1">
                <a:solidFill>
                  <a:srgbClr val="4B2B75"/>
                </a:solidFill>
                <a:latin typeface="Aptos"/>
              </a:defRPr>
            </a:pPr>
            <a:r>
              <a:t>Idea central: menos registros manuales y mejor acceso a la información del negocio.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Problema identificado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Los procesos manuales dificultan el seguimiento de las operaciones.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82296" cy="329184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Registro disperso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3090672" cy="2633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Ventas anotadas en papel, cuadernos o archivos separados.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600200"/>
            <a:ext cx="82296" cy="329184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4650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Control de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67128"/>
            <a:ext cx="3090672" cy="2633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Actualizar existencias manualmente puede generar errores.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47472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82296" cy="329184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74650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Información limitada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67128"/>
            <a:ext cx="3090672" cy="2633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Consultar ventas y estimar ganancias requiere revisar varios registros.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1014984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4B2B75"/>
                </a:solidFill>
                <a:latin typeface="Aptos"/>
              </a:defRPr>
            </a:pPr>
            <a:r>
              <a:t>Consecuencia: mayor riesgo de errores y menos claridad para tomar decisiones.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Validación inicial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Encuesta piloto a 6 emprendedores de MYPES en Lima.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82296" cy="342900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746504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Control de ingresos y egresos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167128"/>
            <a:ext cx="3136392" cy="2770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4C4658"/>
                </a:solidFill>
                <a:latin typeface="Aptos"/>
              </a:defRPr>
            </a:pPr>
            <a:r>
              <a:t>50 % usa cuaderno o libreta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4C4658"/>
                </a:solidFill>
                <a:latin typeface="Aptos"/>
              </a:defRPr>
            </a:pPr>
            <a:r>
              <a:t>16,7 % usa Excel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4C4658"/>
                </a:solidFill>
                <a:latin typeface="Aptos"/>
              </a:defRPr>
            </a:pPr>
            <a:r>
              <a:t>33,3 % usa software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600200"/>
            <a:ext cx="82296" cy="342900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746504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Claridad de ganancias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167128"/>
            <a:ext cx="3136392" cy="2770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50 % conoce exactamente la ganancia mensual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33,3 % la conoce aproximadamente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16,7 % no tiene claridad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00200"/>
            <a:ext cx="352044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00200"/>
            <a:ext cx="82296" cy="342900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746504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Interés en probar WonPLUS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67128"/>
            <a:ext cx="3136392" cy="2770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0">
                <a:solidFill>
                  <a:srgbClr val="4C4658"/>
                </a:solidFill>
                <a:latin typeface="Aptos"/>
              </a:defRPr>
            </a:pPr>
            <a:r>
              <a:t>3 de 6 mostraron interés</a:t>
            </a:r>
          </a:p>
          <a:p>
            <a:pPr algn="l">
              <a:spcAft>
                <a:spcPts val="800"/>
              </a:spcAft>
              <a:defRPr sz="1700" b="0">
                <a:solidFill>
                  <a:srgbClr val="4C4658"/>
                </a:solidFill>
                <a:latin typeface="Aptos"/>
              </a:defRPr>
            </a:pPr>
            <a:r>
              <a:t>3 de 6 no mostraron interés inmediato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349240"/>
            <a:ext cx="1069848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400" b="0">
                <a:solidFill>
                  <a:srgbClr val="7854B4"/>
                </a:solidFill>
                <a:latin typeface="Aptos"/>
              </a:defRPr>
            </a:pPr>
            <a:r>
              <a:t>Importante: la muestra es pequeña; los resultados son una validación inicial, no una conclusión sobre todas las MYPES.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Objetivo y alcance del MVP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La primera versión se concentra en las funciones esenciales.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82296" cy="35661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55063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Incluye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75688"/>
            <a:ext cx="4828032" cy="29077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Inicio de sesión y roles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Gestión de usuarios y productos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Registro de ventas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Actualización automática del stock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Historial y reportes básicos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08760"/>
            <a:ext cx="82296" cy="35661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55063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Fuera del alcance actual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75688"/>
            <a:ext cx="4828032" cy="29077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Facturación electrónica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Conexión con SUNAT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Lectores físicos de códigos de barras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• Funciones avanzadas en la nube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42416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Criterio de éxito: registrar una venta, actualizar existencias y consultar resultados sin cálculos manuales.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¿Cómo funciona?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Flujo básico para el vendedor y el administrador.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06</a:t>
            </a:r>
          </a:p>
        </p:txBody>
      </p:sp>
      <p:sp>
        <p:nvSpPr>
          <p:cNvPr id="6" name="Oval 5"/>
          <p:cNvSpPr/>
          <p:nvPr/>
        </p:nvSpPr>
        <p:spPr>
          <a:xfrm>
            <a:off x="1216152" y="1554480"/>
            <a:ext cx="566928" cy="566928"/>
          </a:xfrm>
          <a:prstGeom prst="ellipse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16152" y="160934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1488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514600"/>
            <a:ext cx="187451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Iniciar sesión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78608" y="25603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7854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593592" y="1554480"/>
            <a:ext cx="566928" cy="566928"/>
          </a:xfrm>
          <a:prstGeom prst="ellipse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93592" y="160934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21488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2514600"/>
            <a:ext cx="187451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Abrir panel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25603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7854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971032" y="1554480"/>
            <a:ext cx="566928" cy="566928"/>
          </a:xfrm>
          <a:prstGeom prst="ellipse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71032" y="160934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57800" y="21488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49240" y="2514600"/>
            <a:ext cx="187451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Registrar venta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25603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7854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Oval 20"/>
          <p:cNvSpPr/>
          <p:nvPr/>
        </p:nvSpPr>
        <p:spPr>
          <a:xfrm>
            <a:off x="8348472" y="1554480"/>
            <a:ext cx="566928" cy="566928"/>
          </a:xfrm>
          <a:prstGeom prst="ellipse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8472" y="160934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1488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2514600"/>
            <a:ext cx="187451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Actualizar stock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10928" y="2560320"/>
            <a:ext cx="32004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7854B4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Oval 25"/>
          <p:cNvSpPr/>
          <p:nvPr/>
        </p:nvSpPr>
        <p:spPr>
          <a:xfrm>
            <a:off x="10725912" y="1554480"/>
            <a:ext cx="566928" cy="566928"/>
          </a:xfrm>
          <a:prstGeom prst="ellipse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25912" y="1609344"/>
            <a:ext cx="56692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800"/>
              </a:spcAft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12680" y="2148840"/>
            <a:ext cx="2057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04120" y="2514600"/>
            <a:ext cx="1874519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Consultar resultados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57200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14400" y="4572000"/>
            <a:ext cx="82296" cy="10515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15568" y="4718304"/>
            <a:ext cx="45262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Administrador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5138928"/>
            <a:ext cx="4507992" cy="393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Gestiona usuarios, productos y categorías.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55080" y="4572000"/>
            <a:ext cx="489204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5080" y="4572000"/>
            <a:ext cx="82296" cy="10515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56248" y="4718304"/>
            <a:ext cx="4526279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Vendedor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56248" y="5138928"/>
            <a:ext cx="4507992" cy="393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Registra ventas y consulta información.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Arquitectura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Separación de responsabilidades para facilitar el mantenimiento.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28800" y="1417320"/>
            <a:ext cx="8503920" cy="658368"/>
          </a:xfrm>
          <a:prstGeom prst="roundRect">
            <a:avLst/>
          </a:prstGeom>
          <a:solidFill>
            <a:srgbClr val="EBE1FA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993392" y="1481328"/>
            <a:ext cx="19202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B2B75"/>
                </a:solidFill>
                <a:latin typeface="Aptos"/>
              </a:defRPr>
            </a:pPr>
            <a:r>
              <a:t>VISTA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481328"/>
            <a:ext cx="62636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C4658"/>
                </a:solidFill>
                <a:latin typeface="Aptos"/>
              </a:defRPr>
            </a:pPr>
            <a:r>
              <a:t>Pantallas e interacción con el usuario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29968" y="2267712"/>
            <a:ext cx="8101584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2331720"/>
            <a:ext cx="19202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B2B75"/>
                </a:solidFill>
                <a:latin typeface="Aptos"/>
              </a:defRPr>
            </a:pPr>
            <a:r>
              <a:t>CONTROLADOR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87368" y="2331720"/>
            <a:ext cx="5861304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C4658"/>
                </a:solidFill>
                <a:latin typeface="Aptos"/>
              </a:defRPr>
            </a:pPr>
            <a:r>
              <a:t>Recibe acciones y coordina el flujo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31136" y="3118104"/>
            <a:ext cx="7699248" cy="658368"/>
          </a:xfrm>
          <a:prstGeom prst="roundRect">
            <a:avLst/>
          </a:prstGeom>
          <a:solidFill>
            <a:srgbClr val="EBE1FA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395728" y="3182112"/>
            <a:ext cx="19202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B2B75"/>
                </a:solidFill>
                <a:latin typeface="Aptos"/>
              </a:defRPr>
            </a:pPr>
            <a:r>
              <a:t>SERVICIOS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3182112"/>
            <a:ext cx="5458968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C4658"/>
                </a:solidFill>
                <a:latin typeface="Aptos"/>
              </a:defRPr>
            </a:pPr>
            <a:r>
              <a:t>Aplica reglas de negocio y validaciones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32304" y="3968496"/>
            <a:ext cx="7296912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96896" y="4032504"/>
            <a:ext cx="19202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B2B75"/>
                </a:solidFill>
                <a:latin typeface="Aptos"/>
              </a:defRPr>
            </a:pPr>
            <a:r>
              <a:t>DAO + JDBC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4032504"/>
            <a:ext cx="5056632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C4658"/>
                </a:solidFill>
                <a:latin typeface="Aptos"/>
              </a:defRPr>
            </a:pPr>
            <a:r>
              <a:t>Acceso a datos mediante interfaces y consultas preparadas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633472" y="4818888"/>
            <a:ext cx="6894576" cy="658368"/>
          </a:xfrm>
          <a:prstGeom prst="roundRect">
            <a:avLst/>
          </a:prstGeom>
          <a:solidFill>
            <a:srgbClr val="EBE1FA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98064" y="4882896"/>
            <a:ext cx="1920240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400" b="1">
                <a:solidFill>
                  <a:srgbClr val="4B2B75"/>
                </a:solidFill>
                <a:latin typeface="Aptos"/>
              </a:defRPr>
            </a:pPr>
            <a:r>
              <a:t>POSTGRESQL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4882896"/>
            <a:ext cx="4654296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4C4658"/>
                </a:solidFill>
                <a:latin typeface="Aptos"/>
              </a:defRPr>
            </a:pPr>
            <a:r>
              <a:t>Almacenamiento de usuarios, productos, ventas y detalles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806440"/>
            <a:ext cx="98755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7854B4"/>
                </a:solidFill>
                <a:latin typeface="Aptos"/>
              </a:defRPr>
            </a:pPr>
            <a:r>
              <a:t>La vista no ejecuta SQL directamente; los servicios usan interfaces DAO para acceder a los datos.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Tecnologías y buenas prácticas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Componentes documentados en el avance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82296" cy="35661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Base tecnológica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3090672" cy="29077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Java 21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PostgreSQL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JDBC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Maven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087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08760"/>
            <a:ext cx="82296" cy="35661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655063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Diseño y calidad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075688"/>
            <a:ext cx="3090672" cy="29077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MVC y DAO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Principios SOLID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Pruebas con JUnit 5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TDD para el núcleo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508760"/>
            <a:ext cx="347472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508760"/>
            <a:ext cx="82296" cy="35661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655063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Librerías de apoyo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075688"/>
            <a:ext cx="3090672" cy="29077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Guava: utilidades y validación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Apache POI: exportar Excel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Commons Lang / IO: textos y archivos</a:t>
            </a:r>
          </a:p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Logback: registros de actividad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El proyecto también mantiene el código y los avances en GitHub.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Seguridad de la información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Medidas implementadas según la descripción técnica del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82296" cy="33832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0078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Contraseñas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3090672" cy="2724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Se almacenan derivadas mediante PBKDF2-HMAC-SHA256, con sal aleatoria.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55448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554480"/>
            <a:ext cx="82296" cy="33832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70078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Acceso y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21408"/>
            <a:ext cx="3090672" cy="2724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Se valida la entrada; las funciones de administración requieren el rol correspondiente.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54480"/>
            <a:ext cx="347472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54480"/>
            <a:ext cx="82296" cy="33832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700784"/>
            <a:ext cx="310896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121408"/>
            <a:ext cx="3090672" cy="2724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Consultas preparadas; bloqueo de producto al descontar stock y rechazo de ventas sin existencias.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0352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7854B4"/>
                </a:solidFill>
                <a:latin typeface="Aptos"/>
              </a:defRPr>
            </a:pPr>
            <a:r>
              <a:t>La clave de PostgreSQL se mantiene fuera del repositorio público.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Modelo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Entidades principales que organizan la información.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202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9D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187451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4B2B75"/>
                </a:solidFill>
                <a:latin typeface="Aptos"/>
              </a:defRPr>
            </a:pPr>
            <a:r>
              <a:t>USUARIO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23160"/>
            <a:ext cx="1837943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4C4658"/>
                </a:solidFill>
                <a:latin typeface="Aptos"/>
              </a:defRPr>
            </a:pPr>
            <a:r>
              <a:t>Datos de acceso y rol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9202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9D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2057400"/>
            <a:ext cx="187451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4B2B75"/>
                </a:solidFill>
                <a:latin typeface="Aptos"/>
              </a:defRPr>
            </a:pPr>
            <a:r>
              <a:t>CATEGORÍA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423160"/>
            <a:ext cx="1837943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4C4658"/>
                </a:solidFill>
                <a:latin typeface="Aptos"/>
              </a:defRPr>
            </a:pPr>
            <a:r>
              <a:t>Clasificación de productos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9202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9D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800" y="2057400"/>
            <a:ext cx="187451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4B2B75"/>
                </a:solidFill>
                <a:latin typeface="Aptos"/>
              </a:defRPr>
            </a:pPr>
            <a:r>
              <a:t>PRODUCTO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76088" y="2423160"/>
            <a:ext cx="1837943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4C4658"/>
                </a:solidFill>
                <a:latin typeface="Aptos"/>
              </a:defRPr>
            </a:pPr>
            <a:r>
              <a:t>Precio, stock y stock mínimo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920240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9D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43800" y="2057400"/>
            <a:ext cx="187451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4B2B75"/>
                </a:solidFill>
                <a:latin typeface="Aptos"/>
              </a:defRPr>
            </a:pPr>
            <a:r>
              <a:t>VENTA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2423160"/>
            <a:ext cx="1837943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4C4658"/>
                </a:solidFill>
                <a:latin typeface="Aptos"/>
              </a:defRPr>
            </a:pPr>
            <a:r>
              <a:t>Fecha, total y usuario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3977639"/>
            <a:ext cx="20574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9D7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4114800"/>
            <a:ext cx="1874519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200" b="1">
                <a:solidFill>
                  <a:srgbClr val="4B2B75"/>
                </a:solidFill>
                <a:latin typeface="Aptos"/>
              </a:defRPr>
            </a:pPr>
            <a:r>
              <a:t>DETALLE DE VENTA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33088" y="4480559"/>
            <a:ext cx="1837943" cy="5029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spAutoFit/>
          </a:bodyPr>
          <a:lstStyle/>
          <a:p>
            <a:pPr algn="ctr">
              <a:spcAft>
                <a:spcPts val="800"/>
              </a:spcAft>
              <a:defRPr sz="1100" b="0">
                <a:solidFill>
                  <a:srgbClr val="4C4658"/>
                </a:solidFill>
                <a:latin typeface="Aptos"/>
              </a:defRPr>
            </a:pPr>
            <a:r>
              <a:t>Cantidad, precio y producto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400" b="1">
                <a:solidFill>
                  <a:srgbClr val="7854B4"/>
                </a:solidFill>
                <a:latin typeface="Aptos"/>
              </a:defRPr>
            </a:pPr>
            <a:r>
              <a:t>Usuario 1:N Venta     •     Venta 1:N DetalleVenta     •     Producto y Categoría se relacionan con el catálogo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Prototipo e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El avance describe pantallas para el flujo principal del sistema.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26060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54480"/>
            <a:ext cx="82296" cy="33375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00784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1. Inicio de sesión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21408"/>
            <a:ext cx="2221992" cy="2679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Ingreso según las credenciales y el rol asignado.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554480"/>
            <a:ext cx="26060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20440" y="1554480"/>
            <a:ext cx="82296" cy="33375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21608" y="1700784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2. Panel principal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2121408"/>
            <a:ext cx="2221992" cy="2679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Vista rápida de ventas e inventario.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554480"/>
            <a:ext cx="26060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82296" cy="33375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528" y="1700784"/>
            <a:ext cx="22402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3. Registrar venta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528" y="2121408"/>
            <a:ext cx="2221992" cy="2679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Selección de productos y cantidades; confirma la operación.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280" y="1554480"/>
            <a:ext cx="2377440" cy="333756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280" y="1554480"/>
            <a:ext cx="82296" cy="333756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9448" y="1700784"/>
            <a:ext cx="2011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4. Productos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9448" y="2121408"/>
            <a:ext cx="1993392" cy="267919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4C4658"/>
                </a:solidFill>
                <a:latin typeface="Aptos"/>
              </a:defRPr>
            </a:pPr>
            <a:r>
              <a:t>Registro, edición y consulta de productos; alerta de stock bajo.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34924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600" b="1">
                <a:solidFill>
                  <a:srgbClr val="4B2B75"/>
                </a:solidFill>
                <a:latin typeface="Aptos"/>
              </a:defRPr>
            </a:pPr>
            <a:r>
              <a:t>También se contempla historial y exportación de reportes a Excel (.xlsx).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Construcción y control de versiones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La solución de escritorio se encuentra organizada en el repositorio del proyecto.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82296" cy="33832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46504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Repositorio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167128"/>
            <a:ext cx="4828032" cy="2724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GitHub: ZuloagaZapanaFamelMarion/WonPLUS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Rama: main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Carpeta de aplicación: wonplus-java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52120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82296" cy="33832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746504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Avances publicados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167128"/>
            <a:ext cx="4828032" cy="2724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500" b="0">
                <a:solidFill>
                  <a:srgbClr val="4C4658"/>
                </a:solidFill>
                <a:latin typeface="Aptos"/>
              </a:defRPr>
            </a:pPr>
            <a:r>
              <a:t>• Núcleo Java, PostgreSQL, DAO y pruebas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4C4658"/>
                </a:solidFill>
                <a:latin typeface="Aptos"/>
              </a:defRPr>
            </a:pPr>
            <a:r>
              <a:t>• Pantallas de ventas, inventario, usuarios y reportes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4C4658"/>
                </a:solidFill>
                <a:latin typeface="Aptos"/>
              </a:defRPr>
            </a:pPr>
            <a:r>
              <a:t>• Documento de arquitectura y pantallas</a:t>
            </a:r>
          </a:p>
          <a:p>
            <a:pPr algn="l">
              <a:spcAft>
                <a:spcPts val="800"/>
              </a:spcAft>
              <a:defRPr sz="1500" b="0">
                <a:solidFill>
                  <a:srgbClr val="4C4658"/>
                </a:solidFill>
                <a:latin typeface="Aptos"/>
              </a:defRPr>
            </a:pPr>
            <a:r>
              <a:t>• README y conexión de ejemplo actualizados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24128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500" b="1">
                <a:solidFill>
                  <a:srgbClr val="7854B4"/>
                </a:solidFill>
                <a:latin typeface="Aptos"/>
              </a:defRPr>
            </a:pPr>
            <a:r>
              <a:t>La configuración local de base de datos se realiza a partir de db.properties.example.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Alternativas evaluadas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Se compararon tres formas de resolver el problema.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508760"/>
            <a:ext cx="82296" cy="352044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655063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1. Aplicación de escritorio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075688"/>
            <a:ext cx="3136392" cy="2862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Java + MVC + PostgreSQL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Ventaja: control del desarrollo y alcance acotado.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Límite: uso local o en red básica.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508760"/>
            <a:ext cx="82296" cy="352044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655063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2. Sistema web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075688"/>
            <a:ext cx="3136392" cy="2862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Java + PostgreSQL desde navegador.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Ventaja: mayor accesibilidad y multiusuario.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Límite: más complejidad de despliegue.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508760"/>
            <a:ext cx="352044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508760"/>
            <a:ext cx="82296" cy="352044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655063"/>
            <a:ext cx="31546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3. Plataforma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075688"/>
            <a:ext cx="3136392" cy="28620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Software existente.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Ventaja: implementación potencialmente rápida.</a:t>
            </a:r>
          </a:p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Límite: costos y menor adaptación.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515600" cy="411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La alternativa desarrollada para este avance es la aplicación de escritorio WonPLUS.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Recomendaciones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Próximos pasos propuestos en el documento.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41732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4C4658"/>
                </a:solidFill>
                <a:latin typeface="Aptos"/>
              </a:defRPr>
            </a:pPr>
            <a:r>
              <a:t>•  Ampliar la encuesta a más MYPES y rubros.</a:t>
            </a:r>
          </a:p>
          <a:p>
            <a:pPr>
              <a:spcAft>
                <a:spcPts val="1300"/>
              </a:spcAft>
              <a:defRPr sz="1800">
                <a:solidFill>
                  <a:srgbClr val="4C4658"/>
                </a:solidFill>
                <a:latin typeface="Aptos"/>
              </a:defRPr>
            </a:pPr>
            <a:r>
              <a:t>•  Probar la usabilidad con Administradores y Vendedores.</a:t>
            </a:r>
          </a:p>
          <a:p>
            <a:pPr>
              <a:spcAft>
                <a:spcPts val="1300"/>
              </a:spcAft>
              <a:defRPr sz="1800">
                <a:solidFill>
                  <a:srgbClr val="4C4658"/>
                </a:solidFill>
                <a:latin typeface="Aptos"/>
              </a:defRPr>
            </a:pPr>
            <a:r>
              <a:t>•  Mantener el alcance del MVP enfocado en operaciones esenciales.</a:t>
            </a:r>
          </a:p>
          <a:p>
            <a:pPr>
              <a:spcAft>
                <a:spcPts val="1300"/>
              </a:spcAft>
              <a:defRPr sz="1800">
                <a:solidFill>
                  <a:srgbClr val="4C4658"/>
                </a:solidFill>
                <a:latin typeface="Aptos"/>
              </a:defRPr>
            </a:pPr>
            <a:r>
              <a:t>•  Evaluar una futura versión web con Java y Spring Boot.</a:t>
            </a:r>
          </a:p>
          <a:p>
            <a:pPr>
              <a:spcAft>
                <a:spcPts val="1300"/>
              </a:spcAft>
              <a:defRPr sz="1800">
                <a:solidFill>
                  <a:srgbClr val="4C4658"/>
                </a:solidFill>
                <a:latin typeface="Aptos"/>
              </a:defRPr>
            </a:pPr>
            <a:r>
              <a:t>•  Implementar respaldos periódicos y recuperación.</a:t>
            </a:r>
          </a:p>
          <a:p>
            <a:pPr>
              <a:spcAft>
                <a:spcPts val="1300"/>
              </a:spcAft>
              <a:defRPr sz="1800">
                <a:solidFill>
                  <a:srgbClr val="4C4658"/>
                </a:solidFill>
                <a:latin typeface="Aptos"/>
              </a:defRPr>
            </a:pPr>
            <a:r>
              <a:t>•  Documentar pruebas, errores y correcciones.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84048"/>
            <a:ext cx="109728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3000" b="1">
                <a:solidFill>
                  <a:srgbClr val="4B2B75"/>
                </a:solidFill>
                <a:latin typeface="Aptos"/>
              </a:defRPr>
            </a:pPr>
            <a: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300" b="0">
                <a:solidFill>
                  <a:srgbClr val="7854B4"/>
                </a:solidFill>
                <a:latin typeface="Aptos"/>
              </a:defRPr>
            </a:pPr>
            <a:r>
              <a:t>¿Qué aporta el avance 3?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73952"/>
            <a:ext cx="1554480" cy="20116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spcAft>
                <a:spcPts val="800"/>
              </a:spcAft>
              <a:defRPr sz="900" b="0">
                <a:solidFill>
                  <a:srgbClr val="7854B4"/>
                </a:solidFill>
                <a:latin typeface="Aptos"/>
              </a:defRPr>
            </a:pPr>
            <a:r>
              <a:t>WonPLUS  • 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63040"/>
            <a:ext cx="82296" cy="15544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609344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Solución enfocada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029968"/>
            <a:ext cx="4828032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Centraliza ventas, productos, inventario y reportes básicos.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6304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63040"/>
            <a:ext cx="82296" cy="15544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09344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Arquitectura organizada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2029968"/>
            <a:ext cx="4828032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MVC, DAO, servicios y PostgreSQL separan responsabilidades.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3756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82296" cy="15544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483864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Seguridad y pruebas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904487"/>
            <a:ext cx="4828032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Incluye cifrado de contraseñas, validaciones y pruebas automatizadas.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337560"/>
            <a:ext cx="52120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9C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337560"/>
            <a:ext cx="82296" cy="1554480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483864"/>
            <a:ext cx="484632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Validación pendiente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904487"/>
            <a:ext cx="4828032" cy="8961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l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La encuesta inicial tuvo solo 6 participantes; se requiere ampliar las pruebas.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700" b="1">
                <a:solidFill>
                  <a:srgbClr val="4B2B75"/>
                </a:solidFill>
                <a:latin typeface="Aptos"/>
              </a:defRPr>
            </a:pPr>
            <a:r>
              <a:t>WonPLUS constituye una base funcional para seguir validando y mejorando la gestión de las MYPES.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9D7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6984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4200" b="1">
                <a:solidFill>
                  <a:srgbClr val="4B2B75"/>
                </a:solidFill>
                <a:latin typeface="Aptos"/>
              </a:defRPr>
            </a:pPr>
            <a: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1069848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2400" b="1">
                <a:solidFill>
                  <a:srgbClr val="7854B4"/>
                </a:solidFill>
                <a:latin typeface="Aptos"/>
              </a:defRPr>
            </a:pPr>
            <a: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074920"/>
            <a:ext cx="9966960" cy="4572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spcAft>
                <a:spcPts val="800"/>
              </a:spcAft>
              <a:defRPr sz="1600" b="0">
                <a:solidFill>
                  <a:srgbClr val="4C4658"/>
                </a:solidFill>
                <a:latin typeface="Aptos"/>
              </a:defRPr>
            </a:pPr>
            <a:r>
              <a:t>WonPLUS • Sistema de gestión de ventas e inventarios para MYPES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0" y="5806440"/>
            <a:ext cx="3566160" cy="73152"/>
          </a:xfrm>
          <a:prstGeom prst="rect">
            <a:avLst/>
          </a:prstGeom>
          <a:solidFill>
            <a:srgbClr val="EBE1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